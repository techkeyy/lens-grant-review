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22331"/>
                </a:solidFill>
                <a:latin typeface="Aptos"/>
              </a:defRPr>
            </a:pPr>
            <a:r>
              <a:t>Two reports can claim the same four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96B72"/>
                </a:solidFill>
                <a:latin typeface="Aptos"/>
              </a:defRPr>
            </a:pPr>
            <a:r>
              <a:t>A small charity must check funder reports before they leave. Synthetic demonstration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96B72"/>
                </a:solidFill>
                <a:latin typeface="Aptos"/>
              </a:defRPr>
            </a:pPr>
            <a:r>
              <a:t>Lens   /   Open Agent Hackathon 2026   /  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4612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283464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Reading Futures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2743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Timesheet TS-101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4 hours claimed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24612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73152" cy="283464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205740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Community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697480"/>
            <a:ext cx="2743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The same TS-101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4 hours claimed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828800"/>
            <a:ext cx="306324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1828800"/>
            <a:ext cx="73152" cy="2834640"/>
          </a:xfrm>
          <a:prstGeom prst="rect">
            <a:avLst/>
          </a:prstGeom>
          <a:solidFill>
            <a:srgbClr val="B4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205740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Original timesheet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697480"/>
            <a:ext cx="25603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TS-101 records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4 hours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02352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22331"/>
                </a:solidFill>
                <a:latin typeface="Aptos"/>
              </a:defRPr>
            </a:pPr>
            <a:r>
              <a:t>8 hours claimed from one 4-hour 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22331"/>
                </a:solidFill>
                <a:latin typeface="Aptos"/>
              </a:defRPr>
            </a:pPr>
            <a:r>
              <a:t>Lens shows the records behind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96B72"/>
                </a:solidFill>
                <a:latin typeface="Aptos"/>
              </a:defRPr>
            </a:pPr>
            <a:r>
              <a:t>A review workspace for the person preparing two funder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96B72"/>
                </a:solidFill>
                <a:latin typeface="Aptos"/>
              </a:defRPr>
            </a:pPr>
            <a:r>
              <a:t>Lens   /   Open Agent Hackathon 2026   / 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38328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1  Bring records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Two draft report CSVs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Timesheets, receipts and activity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73152" cy="338328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5740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2  Check the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97480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See both report rows, the source row and the calculation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338328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05740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3  Decide and rerun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97480"/>
            <a:ext cx="30175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Correct an allocation or write an explanation; review the result again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568756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96B72"/>
                </a:solidFill>
                <a:latin typeface="Aptos"/>
              </a:defRPr>
            </a:pPr>
            <a:r>
              <a:t>Lens raises a question for a reviewer. It does not certify compliance or submit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22331"/>
                </a:solidFill>
                <a:latin typeface="Aptos"/>
              </a:defRPr>
            </a:pPr>
            <a:r>
              <a:t>The reviewer has a complete local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96B72"/>
                </a:solidFill>
                <a:latin typeface="Aptos"/>
              </a:defRPr>
            </a:pPr>
            <a:r>
              <a:t>Interface excerpt recreated with the current labels; capture a live screenshot before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96B72"/>
                </a:solidFill>
                <a:latin typeface="Aptos"/>
              </a:defRPr>
            </a:pPr>
            <a:r>
              <a:t>Lens   /   Open Agent Hackathon 2026   / 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81360" cy="4096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22331"/>
                </a:solidFill>
                <a:latin typeface="Aptos"/>
              </a:defRPr>
            </a:pPr>
            <a:r>
              <a:t>Bring your records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2761488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EC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5292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F343F"/>
                </a:solidFill>
                <a:latin typeface="Aptos"/>
              </a:defRPr>
            </a:pPr>
            <a:r>
              <a:t>Load sample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3502152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EC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359359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F343F"/>
                </a:solidFill>
                <a:latin typeface="Aptos"/>
              </a:defRPr>
            </a:pPr>
            <a:r>
              <a:t>Import registered Zetaris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4242816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EC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4334255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F343F"/>
                </a:solidFill>
                <a:latin typeface="Aptos"/>
              </a:defRPr>
            </a:pPr>
            <a:r>
              <a:t>Check both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983480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EC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50749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F343F"/>
                </a:solidFill>
                <a:latin typeface="Aptos"/>
              </a:defRPr>
            </a:pPr>
            <a:r>
              <a:t>Questions and supporting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70048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F343F"/>
                </a:solidFill>
                <a:latin typeface="Aptos"/>
              </a:defRPr>
            </a:pPr>
            <a:r>
              <a:t>Review a finding</a:t>
            </a:r>
          </a:p>
          <a:p>
            <a:pPr>
              <a:spcAft>
                <a:spcPts val="700"/>
              </a:spcAft>
              <a:defRPr sz="1800" b="0">
                <a:solidFill>
                  <a:srgbClr val="1F343F"/>
                </a:solidFill>
                <a:latin typeface="Aptos"/>
              </a:defRPr>
            </a:pPr>
            <a:r>
              <a:t>Save correction</a:t>
            </a:r>
          </a:p>
          <a:p>
            <a:pPr>
              <a:spcAft>
                <a:spcPts val="700"/>
              </a:spcAft>
              <a:defRPr sz="1800" b="0">
                <a:solidFill>
                  <a:srgbClr val="1F343F"/>
                </a:solidFill>
                <a:latin typeface="Aptos"/>
              </a:defRPr>
            </a:pPr>
            <a:r>
              <a:t>Rerun check</a:t>
            </a:r>
          </a:p>
          <a:p>
            <a:pPr>
              <a:spcAft>
                <a:spcPts val="700"/>
              </a:spcAft>
              <a:defRPr sz="1800" b="0">
                <a:solidFill>
                  <a:srgbClr val="1F343F"/>
                </a:solidFill>
                <a:latin typeface="Aptos"/>
              </a:defRPr>
            </a:pPr>
            <a:r>
              <a:t>Download review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22331"/>
                </a:solidFill>
                <a:latin typeface="Aptos"/>
              </a:defRPr>
            </a:pPr>
            <a:r>
              <a:t>The answer includes its source and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96B72"/>
                </a:solidFill>
                <a:latin typeface="Aptos"/>
              </a:defRPr>
            </a:pPr>
            <a:r>
              <a:t>Lens groups allocations by stable source ID across both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96B72"/>
                </a:solidFill>
                <a:latin typeface="Aptos"/>
              </a:defRPr>
            </a:pPr>
            <a:r>
              <a:t>Lens   /   Open Agent Hackathon 2026   / 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73936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773936"/>
            <a:ext cx="73152" cy="324612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02536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Report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42615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TS-101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4 staff hours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Reading Futures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73936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73936"/>
            <a:ext cx="73152" cy="324612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02536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Report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42615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TS-101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4 staff hours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Community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773936"/>
            <a:ext cx="347472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773936"/>
            <a:ext cx="73152" cy="3246120"/>
          </a:xfrm>
          <a:prstGeom prst="rect">
            <a:avLst/>
          </a:prstGeom>
          <a:solidFill>
            <a:srgbClr val="B4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02536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42615"/>
            <a:ext cx="2971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TS-101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4 hours on the original timesheet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5349240"/>
            <a:ext cx="7909560" cy="694944"/>
          </a:xfrm>
          <a:prstGeom prst="roundRect">
            <a:avLst>
              <a:gd name="adj" fmla="val 12000"/>
            </a:avLst>
          </a:prstGeom>
          <a:solidFill>
            <a:srgbClr val="EC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5468112"/>
            <a:ext cx="7543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22331"/>
                </a:solidFill>
                <a:latin typeface="Aptos"/>
              </a:defRPr>
            </a:pPr>
            <a:r>
              <a:t>4 + 4 = 8 hours claimed  &gt;  4 hours recorded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22331"/>
                </a:solidFill>
                <a:latin typeface="Aptos"/>
              </a:defRPr>
            </a:pPr>
            <a:r>
              <a:t>Lens chooses one bounded evidence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96B72"/>
                </a:solidFill>
                <a:latin typeface="Aptos"/>
              </a:defRPr>
            </a:pPr>
            <a:r>
              <a:t>Deterministic planner and arithmetic; Python HTTP app, SQLite review, browser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96B72"/>
                </a:solidFill>
                <a:latin typeface="Aptos"/>
              </a:defRPr>
            </a:pPr>
            <a:r>
              <a:t>Lens   /   Open Agent Hackathon 2026   / 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73152" cy="310896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9456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Zetaris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34639"/>
            <a:ext cx="27432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Query five registered grant tables; retain source IDs, hashes and request 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0791" y="1965960"/>
            <a:ext cx="324612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50791" y="1965960"/>
            <a:ext cx="73152" cy="310896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219456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2834639"/>
            <a:ext cx="27432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Check cross-grant totals; choose a follow-up from the finding; reread only relevant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7224" y="1965960"/>
            <a:ext cx="324612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07224" y="1965960"/>
            <a:ext cx="73152" cy="310896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6" y="219456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Meterless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2834639"/>
            <a:ext cx="27432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Record source, finding and reviewer events in the local reference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2412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22331"/>
                </a:solidFill>
                <a:latin typeface="Aptos"/>
              </a:defRPr>
            </a:pPr>
            <a:r>
              <a:t>After a correction, the next open finding can trigger a different evidence query.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22331"/>
                </a:solidFill>
                <a:latin typeface="Aptos"/>
              </a:defRPr>
            </a:pPr>
            <a:r>
              <a:t>Sponsor tools have jobs in the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96B72"/>
                </a:solidFill>
                <a:latin typeface="Aptos"/>
              </a:defRPr>
            </a:pPr>
            <a:r>
              <a:t>Five-table import and two adaptive follow-up branches verified against live Zetaris tables; filming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96B72"/>
                </a:solidFill>
                <a:latin typeface="Aptos"/>
              </a:defRPr>
            </a:pPr>
            <a:r>
              <a:t>Lens   /   Open Agent Hackathon 2026   / 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64792"/>
            <a:ext cx="53492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64792"/>
            <a:ext cx="73152" cy="416052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1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Zetaris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Fifteen live requests read five registered tables: 4 timesheets, 1 receipt, 8 activities, and 4 rows from each draft.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The `OVERALLOCATED_SOURCE` finding retained the timesheet table's source key and snapshot hash.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64792"/>
            <a:ext cx="53492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764792"/>
            <a:ext cx="73152" cy="416052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93391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Meterless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33472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The same Lens run wrote a finding ID to the local World Model reference runtime. After app restart, five findings persisted and a fresh Meterless audit returned 39 events.</a:t>
            </a: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Film the restart and human correction on the same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931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22331"/>
                </a:solidFill>
                <a:latin typeface="Aptos"/>
              </a:defRPr>
            </a:pPr>
            <a:r>
              <a:t>Give the reviewer a chance to fix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96B72"/>
                </a:solidFill>
                <a:latin typeface="Aptos"/>
              </a:defRPr>
            </a:pPr>
            <a:r>
              <a:t>Built for a focused review of two grants and one reporting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96B72"/>
                </a:solidFill>
                <a:latin typeface="Aptos"/>
              </a:defRPr>
            </a:pPr>
            <a:r>
              <a:t>Lens   /   Open Agent Hackathon 2026   / 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828800"/>
            <a:ext cx="5340096" cy="3547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1828800"/>
            <a:ext cx="73152" cy="3547872"/>
          </a:xfrm>
          <a:prstGeom prst="rect">
            <a:avLst/>
          </a:prstGeom>
          <a:solidFill>
            <a:srgbClr val="007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057400"/>
            <a:ext cx="483717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Current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97480"/>
            <a:ext cx="4837176" cy="2496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CSV inputs; cross-grant staff time and receipt allocations; activity-record gaps; human correction or explanation; saved local review; JSON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828800"/>
            <a:ext cx="5340096" cy="3547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828800"/>
            <a:ext cx="73152" cy="3547872"/>
          </a:xfrm>
          <a:prstGeom prst="rect">
            <a:avLst/>
          </a:prstGeom>
          <a:solidFill>
            <a:srgbClr val="B46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3717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2331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4837176" cy="2496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F343F"/>
                </a:solidFill>
                <a:latin typeface="Aptos"/>
              </a:defRPr>
            </a:pPr>
            <a:r>
              <a:t>Funder templates and document imports; accounting connectors; access control for real records; grant-specific reporting rules; collaboration.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64184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22331"/>
                </a:solidFill>
                <a:latin typeface="Aptos"/>
              </a:defRPr>
            </a:pPr>
            <a:r>
              <a:t>Before a report goes out, see which claims the records support and which need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